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502920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502920"/>
            <a:ext cx="164592" cy="16459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9496" y="585216"/>
            <a:ext cx="64008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PROPOSAL  ·  ENTERPRISE AI DEPLOYMENT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FlowBot</a:t>
            </a:r>
            <a:endParaRPr lang="en-US" sz="96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CFB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VinBus Route Chatbot · Tìm tuyến bus bằng ngôn ngữ tự nhiên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3246120"/>
            <a:ext cx="1371600" cy="0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474720"/>
            <a:ext cx="6858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dùng mất thời gian tìm tuyến vì bản đồ phức tạp, tap nhiều bước, dễ nhầm trạm lên/xuống. FlowBot trả lời bằng hỏi đáp tự nhiên và gọi tool route thật thay vì để LLM tự bịa.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863840" y="3474720"/>
            <a:ext cx="3840480" cy="25603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63840" y="3474720"/>
            <a:ext cx="91440" cy="25603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83880" y="36576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</a:t>
            </a:r>
            <a:endParaRPr lang="en-US" sz="11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4069080"/>
            <a:ext cx="365760" cy="3657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641080" y="40233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Commuters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641080" y="42793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 bus hằng ngày, cần tìm route nhanh</a:t>
            </a:r>
            <a:endParaRPr lang="en-US" sz="10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80" y="4709160"/>
            <a:ext cx="365760" cy="3657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641080" y="46634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Tourists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8641080" y="49194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Mới đến Hà Nội / TP.HCM, chưa quen tuyến</a:t>
            </a:r>
            <a:endParaRPr lang="en-US" sz="10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5349240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641080" y="5303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CSKH nội bộ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8641080" y="55595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 lời câu hỏi khách về tuyến nhanh hơn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57200" y="6309360"/>
            <a:ext cx="11247120" cy="0"/>
          </a:xfrm>
          <a:prstGeom prst="line">
            <a:avLst/>
          </a:prstGeom>
          <a:noFill/>
          <a:ln w="9525">
            <a:solidFill>
              <a:srgbClr val="0D9488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FlowBot Team  ·  VinBus / XanhSM Enterprise Deployment Clinic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10332720" y="6446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 / 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Bối cảnh Enterprise &amp; Ràng buộc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097280" cy="0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737360"/>
            <a:ext cx="3657600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737360"/>
            <a:ext cx="73152" cy="4480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65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KHÁCH HÀNG GIẢ ĐỊNH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2860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VinBus / XanhSM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77240" y="29260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Đơn vị vận hành giao thông công cộng muốn nhúng chatbot vào app để hỗ trợ tìm tuyến bus.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3840480"/>
            <a:ext cx="30175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023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NHẠY CẢM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434340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/ destination query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Tiết lộ nơi sống, làm việc, di chuyển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realtime (GPS)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Nhạy cảm cao, cần consent &amp; mã hoá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&amp; correction feedback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Ẩn danh user id, retention policy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34840" y="1737360"/>
            <a:ext cx="3543300" cy="13441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34840" y="1737360"/>
            <a:ext cx="73152" cy="1344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09160" y="2011680"/>
            <a:ext cx="502920" cy="502920"/>
          </a:xfrm>
          <a:prstGeom prst="ellipse">
            <a:avLst/>
          </a:prstGeom>
          <a:solidFill>
            <a:srgbClr val="CCFBF1"/>
          </a:solidFill>
          <a:ln w="6350">
            <a:solidFill>
              <a:srgbClr val="0D9488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18888" y="2121408"/>
            <a:ext cx="283464" cy="28346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349240" y="1993392"/>
            <a:ext cx="25374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Privacy location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5349240" y="2377440"/>
            <a:ext cx="25374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Bảo vệ dữ liệu vị trí &amp; hành trình cá nhân của user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161020" y="1737360"/>
            <a:ext cx="3543300" cy="13441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161020" y="1737360"/>
            <a:ext cx="73152" cy="1344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435340" y="2011680"/>
            <a:ext cx="502920" cy="502920"/>
          </a:xfrm>
          <a:prstGeom prst="ellipse">
            <a:avLst/>
          </a:prstGeom>
          <a:solidFill>
            <a:srgbClr val="CCFBF1"/>
          </a:solidFill>
          <a:ln w="6350">
            <a:solidFill>
              <a:srgbClr val="0D9488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5068" y="2121408"/>
            <a:ext cx="283464" cy="283464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9075420" y="1993392"/>
            <a:ext cx="25374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trail</a:t>
            </a:r>
            <a:endParaRPr lang="en-US" sz="1500" dirty="0"/>
          </a:p>
        </p:txBody>
      </p:sp>
      <p:sp>
        <p:nvSpPr>
          <p:cNvPr id="24" name="Text 20"/>
          <p:cNvSpPr/>
          <p:nvPr/>
        </p:nvSpPr>
        <p:spPr>
          <a:xfrm>
            <a:off x="9075420" y="2377440"/>
            <a:ext cx="25374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query, tool I/O, route đề xuất, feedback sai tuyến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4434840" y="3264408"/>
            <a:ext cx="3543300" cy="13441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4434840" y="3264408"/>
            <a:ext cx="73152" cy="1344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4709160" y="3538728"/>
            <a:ext cx="502920" cy="502920"/>
          </a:xfrm>
          <a:prstGeom prst="ellipse">
            <a:avLst/>
          </a:prstGeom>
          <a:solidFill>
            <a:srgbClr val="CCFBF1"/>
          </a:solidFill>
          <a:ln w="6350">
            <a:solidFill>
              <a:srgbClr val="0D9488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888" y="3648456"/>
            <a:ext cx="283464" cy="283464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5349240" y="3520440"/>
            <a:ext cx="25374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Route accuracy</a:t>
            </a:r>
            <a:endParaRPr lang="en-US" sz="1500" dirty="0"/>
          </a:p>
        </p:txBody>
      </p:sp>
      <p:sp>
        <p:nvSpPr>
          <p:cNvPr id="30" name="Text 25"/>
          <p:cNvSpPr/>
          <p:nvPr/>
        </p:nvSpPr>
        <p:spPr>
          <a:xfrm>
            <a:off x="5349240" y="3904488"/>
            <a:ext cx="25374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tuyến = user đi sai trạm, muộn giờ, mất niềm tin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8161020" y="3264408"/>
            <a:ext cx="3543300" cy="13441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8161020" y="3264408"/>
            <a:ext cx="73152" cy="1344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8435340" y="3538728"/>
            <a:ext cx="502920" cy="502920"/>
          </a:xfrm>
          <a:prstGeom prst="ellipse">
            <a:avLst/>
          </a:prstGeom>
          <a:solidFill>
            <a:srgbClr val="CCFBF1"/>
          </a:solidFill>
          <a:ln w="6350">
            <a:solidFill>
              <a:srgbClr val="0D9488"/>
            </a:solidFill>
            <a:prstDash val="solid"/>
          </a:ln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5068" y="3648456"/>
            <a:ext cx="283464" cy="283464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9075420" y="3520440"/>
            <a:ext cx="25374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Provider dependency</a:t>
            </a:r>
            <a:endParaRPr lang="en-US" sz="1500" dirty="0"/>
          </a:p>
        </p:txBody>
      </p:sp>
      <p:sp>
        <p:nvSpPr>
          <p:cNvPr id="36" name="Text 30"/>
          <p:cNvSpPr/>
          <p:nvPr/>
        </p:nvSpPr>
        <p:spPr>
          <a:xfrm>
            <a:off x="9075420" y="3904488"/>
            <a:ext cx="25374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/ Google Maps timeout, quota, policy thay đổi</a:t>
            </a:r>
            <a:endParaRPr lang="en-US" sz="1100" dirty="0"/>
          </a:p>
        </p:txBody>
      </p:sp>
      <p:sp>
        <p:nvSpPr>
          <p:cNvPr id="37" name="Shape 31"/>
          <p:cNvSpPr/>
          <p:nvPr/>
        </p:nvSpPr>
        <p:spPr>
          <a:xfrm>
            <a:off x="4434840" y="4791456"/>
            <a:ext cx="3543300" cy="13441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4434840" y="4791456"/>
            <a:ext cx="73152" cy="1344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4709160" y="5065776"/>
            <a:ext cx="502920" cy="502920"/>
          </a:xfrm>
          <a:prstGeom prst="ellipse">
            <a:avLst/>
          </a:prstGeom>
          <a:solidFill>
            <a:srgbClr val="CCFBF1"/>
          </a:solidFill>
          <a:ln w="6350">
            <a:solidFill>
              <a:srgbClr val="0D9488"/>
            </a:solidFill>
            <a:prstDash val="solid"/>
          </a:ln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8888" y="5175504"/>
            <a:ext cx="283464" cy="283464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5349240" y="5047488"/>
            <a:ext cx="25374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integration</a:t>
            </a:r>
            <a:endParaRPr lang="en-US" sz="1500" dirty="0"/>
          </a:p>
        </p:txBody>
      </p:sp>
      <p:sp>
        <p:nvSpPr>
          <p:cNvPr id="42" name="Text 35"/>
          <p:cNvSpPr/>
          <p:nvPr/>
        </p:nvSpPr>
        <p:spPr>
          <a:xfrm>
            <a:off x="5349240" y="5431536"/>
            <a:ext cx="25374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GTFS, VinBus local routes, app, ticketing CSKH</a:t>
            </a:r>
            <a:endParaRPr lang="en-US" sz="1100" dirty="0"/>
          </a:p>
        </p:txBody>
      </p:sp>
      <p:sp>
        <p:nvSpPr>
          <p:cNvPr id="43" name="Shape 36"/>
          <p:cNvSpPr/>
          <p:nvPr/>
        </p:nvSpPr>
        <p:spPr>
          <a:xfrm>
            <a:off x="4434840" y="4791456"/>
            <a:ext cx="7269480" cy="1344168"/>
          </a:xfrm>
          <a:prstGeom prst="rect">
            <a:avLst/>
          </a:prstGeom>
          <a:solidFill>
            <a:srgbClr val="DCFCE7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4" name="Shape 37"/>
          <p:cNvSpPr/>
          <p:nvPr/>
        </p:nvSpPr>
        <p:spPr>
          <a:xfrm>
            <a:off x="4434840" y="4791456"/>
            <a:ext cx="73152" cy="13441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5" name="Shape 38"/>
          <p:cNvSpPr/>
          <p:nvPr/>
        </p:nvSpPr>
        <p:spPr>
          <a:xfrm>
            <a:off x="4709160" y="5065776"/>
            <a:ext cx="502920" cy="502920"/>
          </a:xfrm>
          <a:prstGeom prst="ellipse">
            <a:avLst/>
          </a:prstGeom>
          <a:solidFill>
            <a:srgbClr val="FFFFFF"/>
          </a:solidFill>
          <a:ln w="6350">
            <a:solidFill>
              <a:srgbClr val="22C55E"/>
            </a:solidFill>
            <a:prstDash val="solid"/>
          </a:ln>
        </p:spPr>
      </p:sp>
      <p:pic>
        <p:nvPicPr>
          <p:cNvPr id="4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8888" y="5175504"/>
            <a:ext cx="283464" cy="283464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5349240" y="5047488"/>
            <a:ext cx="6263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Deployment: Hybrid</a:t>
            </a:r>
            <a:endParaRPr lang="en-US" sz="1500" dirty="0"/>
          </a:p>
        </p:txBody>
      </p:sp>
      <p:sp>
        <p:nvSpPr>
          <p:cNvPr id="48" name="Text 40"/>
          <p:cNvSpPr/>
          <p:nvPr/>
        </p:nvSpPr>
        <p:spPr>
          <a:xfrm>
            <a:off x="5349240" y="5431536"/>
            <a:ext cx="62636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data trong VPC, LLM / Maps qua gateway có rate limit, cache, masking, fallback</a:t>
            </a:r>
            <a:endParaRPr lang="en-US" sz="1100" dirty="0"/>
          </a:p>
        </p:txBody>
      </p:sp>
      <p:sp>
        <p:nvSpPr>
          <p:cNvPr id="49" name="Text 41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FlowBot  ·  VinBus Route Chatbot</a:t>
            </a:r>
            <a:endParaRPr lang="en-US" sz="900" dirty="0"/>
          </a:p>
        </p:txBody>
      </p:sp>
      <p:sp>
        <p:nvSpPr>
          <p:cNvPr id="50" name="Text 42"/>
          <p:cNvSpPr/>
          <p:nvPr/>
        </p:nvSpPr>
        <p:spPr>
          <a:xfrm>
            <a:off x="10332720" y="65379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Kiến trúc triển khai đề xuất — Hybrid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097280" cy="0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Backend, data và log chạy trong VPC enterprise · LLM / Maps qua gateway có rate limit + cache + fallback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2103120" cy="3840480"/>
          </a:xfrm>
          <a:prstGeom prst="rect">
            <a:avLst/>
          </a:prstGeom>
          <a:solidFill>
            <a:srgbClr val="FFFFFF"/>
          </a:solidFill>
          <a:ln w="15875">
            <a:solidFill>
              <a:srgbClr val="334155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48640" y="18288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34640" y="2057400"/>
            <a:ext cx="6035040" cy="3840480"/>
          </a:xfrm>
          <a:prstGeom prst="rect">
            <a:avLst/>
          </a:prstGeom>
          <a:solidFill>
            <a:srgbClr val="FFFFFF"/>
          </a:solidFill>
          <a:ln w="15875">
            <a:solidFill>
              <a:srgbClr val="0D9488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2926080" y="182880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VPC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144000" y="2057400"/>
            <a:ext cx="2560320" cy="3840480"/>
          </a:xfrm>
          <a:prstGeom prst="rect">
            <a:avLst/>
          </a:prstGeom>
          <a:solidFill>
            <a:srgbClr val="FFFFFF"/>
          </a:solidFill>
          <a:ln w="15875">
            <a:solidFill>
              <a:srgbClr val="F59E0B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9235440" y="18288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PROVIDERS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3246120"/>
            <a:ext cx="173736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3246120"/>
            <a:ext cx="1737360" cy="7315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3447288"/>
            <a:ext cx="365760" cy="3657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85800" y="38862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85800" y="417880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UI · conversation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017520" y="2377440"/>
            <a:ext cx="173736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017520" y="2377440"/>
            <a:ext cx="173736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2578608"/>
            <a:ext cx="365760" cy="36576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063240" y="3017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3063240" y="331012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 · Auth · Masking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3017520" y="3840480"/>
            <a:ext cx="173736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3017520" y="3840480"/>
            <a:ext cx="173736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4041648"/>
            <a:ext cx="365760" cy="36576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3063240" y="4480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3063240" y="477316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5029200" y="2377440"/>
            <a:ext cx="173736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0F766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5029200" y="2377440"/>
            <a:ext cx="17373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578608"/>
            <a:ext cx="365760" cy="36576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074920" y="3017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Agent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5074920" y="331012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 · State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5029200" y="3840480"/>
            <a:ext cx="173736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0F766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5029200" y="3840480"/>
            <a:ext cx="17373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0" y="4041648"/>
            <a:ext cx="365760" cy="36576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5074920" y="4480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Route DB</a:t>
            </a:r>
            <a:endParaRPr lang="en-US" sz="1200" dirty="0"/>
          </a:p>
        </p:txBody>
      </p:sp>
      <p:sp>
        <p:nvSpPr>
          <p:cNvPr id="36" name="Text 29"/>
          <p:cNvSpPr/>
          <p:nvPr/>
        </p:nvSpPr>
        <p:spPr>
          <a:xfrm>
            <a:off x="5074920" y="477316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VinBus · GTFS · Cache</a:t>
            </a:r>
            <a:endParaRPr lang="en-US" sz="900" dirty="0"/>
          </a:p>
        </p:txBody>
      </p:sp>
      <p:sp>
        <p:nvSpPr>
          <p:cNvPr id="37" name="Shape 30"/>
          <p:cNvSpPr/>
          <p:nvPr/>
        </p:nvSpPr>
        <p:spPr>
          <a:xfrm>
            <a:off x="7040880" y="3108960"/>
            <a:ext cx="173736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7040880" y="3108960"/>
            <a:ext cx="173736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6680" y="3310128"/>
            <a:ext cx="365760" cy="365760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7086600" y="3749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200" dirty="0"/>
          </a:p>
        </p:txBody>
      </p:sp>
      <p:sp>
        <p:nvSpPr>
          <p:cNvPr id="41" name="Text 33"/>
          <p:cNvSpPr/>
          <p:nvPr/>
        </p:nvSpPr>
        <p:spPr>
          <a:xfrm>
            <a:off x="7086600" y="404164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· Metrics · Traces</a:t>
            </a:r>
            <a:endParaRPr lang="en-US" sz="900" dirty="0"/>
          </a:p>
        </p:txBody>
      </p:sp>
      <p:sp>
        <p:nvSpPr>
          <p:cNvPr id="42" name="Shape 34"/>
          <p:cNvSpPr/>
          <p:nvPr/>
        </p:nvSpPr>
        <p:spPr>
          <a:xfrm>
            <a:off x="9326880" y="2468880"/>
            <a:ext cx="219456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3" name="Shape 35"/>
          <p:cNvSpPr/>
          <p:nvPr/>
        </p:nvSpPr>
        <p:spPr>
          <a:xfrm>
            <a:off x="9326880" y="2468880"/>
            <a:ext cx="219456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1280" y="2670048"/>
            <a:ext cx="365760" cy="365760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9372600" y="31089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200" dirty="0"/>
          </a:p>
        </p:txBody>
      </p:sp>
      <p:sp>
        <p:nvSpPr>
          <p:cNvPr id="46" name="Text 37"/>
          <p:cNvSpPr/>
          <p:nvPr/>
        </p:nvSpPr>
        <p:spPr>
          <a:xfrm>
            <a:off x="9372600" y="34015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 · parsing</a:t>
            </a:r>
            <a:endParaRPr lang="en-US" sz="900" dirty="0"/>
          </a:p>
        </p:txBody>
      </p:sp>
      <p:sp>
        <p:nvSpPr>
          <p:cNvPr id="47" name="Shape 38"/>
          <p:cNvSpPr/>
          <p:nvPr/>
        </p:nvSpPr>
        <p:spPr>
          <a:xfrm>
            <a:off x="9326880" y="3931920"/>
            <a:ext cx="219456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8" name="Shape 39"/>
          <p:cNvSpPr/>
          <p:nvPr/>
        </p:nvSpPr>
        <p:spPr>
          <a:xfrm>
            <a:off x="9326880" y="3931920"/>
            <a:ext cx="219456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4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41280" y="4133088"/>
            <a:ext cx="365760" cy="365760"/>
          </a:xfrm>
          <a:prstGeom prst="rect">
            <a:avLst/>
          </a:prstGeom>
        </p:spPr>
      </p:pic>
      <p:sp>
        <p:nvSpPr>
          <p:cNvPr id="50" name="Text 40"/>
          <p:cNvSpPr/>
          <p:nvPr/>
        </p:nvSpPr>
        <p:spPr>
          <a:xfrm>
            <a:off x="9372600" y="45720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</a:t>
            </a:r>
            <a:endParaRPr lang="en-US" sz="1200" dirty="0"/>
          </a:p>
        </p:txBody>
      </p:sp>
      <p:sp>
        <p:nvSpPr>
          <p:cNvPr id="51" name="Text 41"/>
          <p:cNvSpPr/>
          <p:nvPr/>
        </p:nvSpPr>
        <p:spPr>
          <a:xfrm>
            <a:off x="9372600" y="48646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API v2 · Transit</a:t>
            </a:r>
            <a:endParaRPr lang="en-US" sz="900" dirty="0"/>
          </a:p>
        </p:txBody>
      </p:sp>
      <p:sp>
        <p:nvSpPr>
          <p:cNvPr id="52" name="Shape 42"/>
          <p:cNvSpPr/>
          <p:nvPr/>
        </p:nvSpPr>
        <p:spPr>
          <a:xfrm>
            <a:off x="2377440" y="3931920"/>
            <a:ext cx="640080" cy="-914400"/>
          </a:xfrm>
          <a:prstGeom prst="line">
            <a:avLst/>
          </a:prstGeom>
          <a:noFill/>
          <a:ln w="22225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53" name="Shape 43"/>
          <p:cNvSpPr/>
          <p:nvPr/>
        </p:nvSpPr>
        <p:spPr>
          <a:xfrm>
            <a:off x="3886200" y="3657600"/>
            <a:ext cx="0" cy="182880"/>
          </a:xfrm>
          <a:prstGeom prst="line">
            <a:avLst/>
          </a:prstGeom>
          <a:noFill/>
          <a:ln w="22225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54" name="Shape 44"/>
          <p:cNvSpPr/>
          <p:nvPr/>
        </p:nvSpPr>
        <p:spPr>
          <a:xfrm>
            <a:off x="4754880" y="4297680"/>
            <a:ext cx="274320" cy="-1280160"/>
          </a:xfrm>
          <a:prstGeom prst="line">
            <a:avLst/>
          </a:prstGeom>
          <a:noFill/>
          <a:ln w="22225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55" name="Shape 45"/>
          <p:cNvSpPr/>
          <p:nvPr/>
        </p:nvSpPr>
        <p:spPr>
          <a:xfrm>
            <a:off x="4754880" y="4480560"/>
            <a:ext cx="274320" cy="0"/>
          </a:xfrm>
          <a:prstGeom prst="line">
            <a:avLst/>
          </a:prstGeom>
          <a:noFill/>
          <a:ln w="22225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56" name="Shape 46"/>
          <p:cNvSpPr/>
          <p:nvPr/>
        </p:nvSpPr>
        <p:spPr>
          <a:xfrm>
            <a:off x="6766560" y="3017520"/>
            <a:ext cx="274320" cy="457200"/>
          </a:xfrm>
          <a:prstGeom prst="line">
            <a:avLst/>
          </a:prstGeom>
          <a:noFill/>
          <a:ln w="22225">
            <a:solidFill>
              <a:srgbClr val="22C55E"/>
            </a:solidFill>
            <a:prstDash val="solid"/>
            <a:tailEnd type="triangle"/>
          </a:ln>
        </p:spPr>
      </p:sp>
      <p:sp>
        <p:nvSpPr>
          <p:cNvPr id="57" name="Shape 47"/>
          <p:cNvSpPr/>
          <p:nvPr/>
        </p:nvSpPr>
        <p:spPr>
          <a:xfrm>
            <a:off x="4754880" y="4572000"/>
            <a:ext cx="2286000" cy="-640080"/>
          </a:xfrm>
          <a:prstGeom prst="line">
            <a:avLst/>
          </a:prstGeom>
          <a:noFill/>
          <a:ln w="22225">
            <a:solidFill>
              <a:srgbClr val="22C55E"/>
            </a:solidFill>
            <a:prstDash val="solid"/>
            <a:tailEnd type="triangle"/>
          </a:ln>
        </p:spPr>
      </p:sp>
      <p:sp>
        <p:nvSpPr>
          <p:cNvPr id="58" name="Shape 48"/>
          <p:cNvSpPr/>
          <p:nvPr/>
        </p:nvSpPr>
        <p:spPr>
          <a:xfrm>
            <a:off x="6766560" y="2880360"/>
            <a:ext cx="2560320" cy="-45720"/>
          </a:xfrm>
          <a:prstGeom prst="line">
            <a:avLst/>
          </a:prstGeom>
          <a:noFill/>
          <a:ln w="22225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59" name="Shape 49"/>
          <p:cNvSpPr/>
          <p:nvPr/>
        </p:nvSpPr>
        <p:spPr>
          <a:xfrm>
            <a:off x="6766560" y="4480560"/>
            <a:ext cx="2560320" cy="0"/>
          </a:xfrm>
          <a:prstGeom prst="line">
            <a:avLst/>
          </a:prstGeom>
          <a:noFill/>
          <a:ln w="22225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60" name="Shape 50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61" name="Text 51"/>
          <p:cNvSpPr/>
          <p:nvPr/>
        </p:nvSpPr>
        <p:spPr>
          <a:xfrm>
            <a:off x="548640" y="646480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FLOW: 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 → Gateway → FastAPI → LangGraph agent → Local route DB (ưu tiên) → Google Maps fallback → OpenAI format → Monitoring</a:t>
            </a:r>
            <a:endParaRPr lang="en-US" sz="1000" dirty="0"/>
          </a:p>
        </p:txBody>
      </p:sp>
      <p:sp>
        <p:nvSpPr>
          <p:cNvPr id="62" name="Text 52"/>
          <p:cNvSpPr/>
          <p:nvPr/>
        </p:nvSpPr>
        <p:spPr>
          <a:xfrm>
            <a:off x="10332720" y="3657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Anatomy &amp; Optimization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097280" cy="0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driver lớn: provider calls / request  ·  Hidden cost dễ quên: human review &amp; route data maintenance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548640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920240"/>
            <a:ext cx="73152" cy="443484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1488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ANATOMY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4231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lớp chi phí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31520" y="3008376"/>
            <a:ext cx="365760" cy="365760"/>
          </a:xfrm>
          <a:prstGeom prst="ellipse">
            <a:avLst/>
          </a:prstGeom>
          <a:solidFill>
            <a:srgbClr val="FFE4E6"/>
          </a:solidFill>
          <a:ln w="6350">
            <a:solidFill>
              <a:srgbClr val="F43F5E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3072384"/>
            <a:ext cx="237744" cy="23774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234440" y="29718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token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234440" y="32004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 cho parsing / tool calling / format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160520" y="3090672"/>
            <a:ext cx="160020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160520" y="3090672"/>
            <a:ext cx="1360170" cy="18288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31520" y="3538728"/>
            <a:ext cx="365760" cy="365760"/>
          </a:xfrm>
          <a:prstGeom prst="ellipse">
            <a:avLst/>
          </a:prstGeom>
          <a:solidFill>
            <a:srgbClr val="FFE4E6"/>
          </a:solidFill>
          <a:ln w="6350">
            <a:solidFill>
              <a:srgbClr val="F43F5E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3602736"/>
            <a:ext cx="237744" cy="23774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234440" y="350215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API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1234440" y="37307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queries — cost chính, tính theo call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4160520" y="3621024"/>
            <a:ext cx="160020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160520" y="3621024"/>
            <a:ext cx="1520190" cy="18288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731520" y="4069080"/>
            <a:ext cx="365760" cy="365760"/>
          </a:xfrm>
          <a:prstGeom prst="ellipse">
            <a:avLst/>
          </a:prstGeom>
          <a:solidFill>
            <a:srgbClr val="CCFBF1"/>
          </a:solidFill>
          <a:ln w="6350">
            <a:solidFill>
              <a:srgbClr val="0D9488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4133088"/>
            <a:ext cx="237744" cy="23774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234440" y="403250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&amp; hosting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1234440" y="426110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FastAPI, autoscaling, load balancer, CDN frontend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4160520" y="4151376"/>
            <a:ext cx="160020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4160520" y="4151376"/>
            <a:ext cx="720090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731520" y="4599432"/>
            <a:ext cx="365760" cy="365760"/>
          </a:xfrm>
          <a:prstGeom prst="ellipse">
            <a:avLst/>
          </a:prstGeom>
          <a:solidFill>
            <a:srgbClr val="CCFBF1"/>
          </a:solidFill>
          <a:ln w="6350">
            <a:solidFill>
              <a:srgbClr val="0D9488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4663440"/>
            <a:ext cx="237744" cy="23774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234440" y="456285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&amp; logging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1234440" y="479145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DB, logs, feedback, conversation metadata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4160520" y="4681728"/>
            <a:ext cx="160020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4160520" y="4681728"/>
            <a:ext cx="560070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731520" y="5129784"/>
            <a:ext cx="365760" cy="365760"/>
          </a:xfrm>
          <a:prstGeom prst="ellipse">
            <a:avLst/>
          </a:prstGeom>
          <a:solidFill>
            <a:srgbClr val="FEF3C7"/>
          </a:solidFill>
          <a:ln w="6350">
            <a:solidFill>
              <a:srgbClr val="F59E0B"/>
            </a:solidFill>
            <a:prstDash val="solid"/>
          </a:ln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5193792"/>
            <a:ext cx="237744" cy="237744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1234440" y="509320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300" dirty="0"/>
          </a:p>
        </p:txBody>
      </p:sp>
      <p:sp>
        <p:nvSpPr>
          <p:cNvPr id="37" name="Text 30"/>
          <p:cNvSpPr/>
          <p:nvPr/>
        </p:nvSpPr>
        <p:spPr>
          <a:xfrm>
            <a:off x="1234440" y="53218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log, đánh giá route sai  →  hidden!</a:t>
            </a:r>
            <a:endParaRPr lang="en-US" sz="1000" dirty="0"/>
          </a:p>
        </p:txBody>
      </p:sp>
      <p:sp>
        <p:nvSpPr>
          <p:cNvPr id="38" name="Shape 31"/>
          <p:cNvSpPr/>
          <p:nvPr/>
        </p:nvSpPr>
        <p:spPr>
          <a:xfrm>
            <a:off x="4160520" y="5212080"/>
            <a:ext cx="160020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4160520" y="5212080"/>
            <a:ext cx="800100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731520" y="5660136"/>
            <a:ext cx="365760" cy="365760"/>
          </a:xfrm>
          <a:prstGeom prst="ellipse">
            <a:avLst/>
          </a:prstGeom>
          <a:solidFill>
            <a:srgbClr val="FEF3C7"/>
          </a:solidFill>
          <a:ln w="6350">
            <a:solidFill>
              <a:srgbClr val="F59E0B"/>
            </a:solidFill>
            <a:prstDash val="solid"/>
          </a:ln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8" y="5724144"/>
            <a:ext cx="237744" cy="237744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1234440" y="56235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300" dirty="0"/>
          </a:p>
        </p:txBody>
      </p:sp>
      <p:sp>
        <p:nvSpPr>
          <p:cNvPr id="43" name="Text 35"/>
          <p:cNvSpPr/>
          <p:nvPr/>
        </p:nvSpPr>
        <p:spPr>
          <a:xfrm>
            <a:off x="1234440" y="58521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route data, fix API changes, patches</a:t>
            </a:r>
            <a:endParaRPr lang="en-US" sz="1000" dirty="0"/>
          </a:p>
        </p:txBody>
      </p:sp>
      <p:sp>
        <p:nvSpPr>
          <p:cNvPr id="44" name="Shape 36"/>
          <p:cNvSpPr/>
          <p:nvPr/>
        </p:nvSpPr>
        <p:spPr>
          <a:xfrm>
            <a:off x="4160520" y="5742432"/>
            <a:ext cx="160020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37"/>
          <p:cNvSpPr/>
          <p:nvPr/>
        </p:nvSpPr>
        <p:spPr>
          <a:xfrm>
            <a:off x="4160520" y="5742432"/>
            <a:ext cx="640080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Shape 38"/>
          <p:cNvSpPr/>
          <p:nvPr/>
        </p:nvSpPr>
        <p:spPr>
          <a:xfrm>
            <a:off x="6217920" y="1920240"/>
            <a:ext cx="548640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7" name="Shape 39"/>
          <p:cNvSpPr/>
          <p:nvPr/>
        </p:nvSpPr>
        <p:spPr>
          <a:xfrm>
            <a:off x="6217920" y="1920240"/>
            <a:ext cx="73152" cy="44348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8" name="Text 40"/>
          <p:cNvSpPr/>
          <p:nvPr/>
        </p:nvSpPr>
        <p:spPr>
          <a:xfrm>
            <a:off x="6492240" y="21488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ROADMAP</a:t>
            </a:r>
            <a:endParaRPr lang="en-US" sz="1000" dirty="0"/>
          </a:p>
        </p:txBody>
      </p:sp>
      <p:sp>
        <p:nvSpPr>
          <p:cNvPr id="49" name="Text 41"/>
          <p:cNvSpPr/>
          <p:nvPr/>
        </p:nvSpPr>
        <p:spPr>
          <a:xfrm>
            <a:off x="6492240" y="24231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Khi nào làm gì</a:t>
            </a:r>
            <a:endParaRPr lang="en-US" sz="2000" dirty="0"/>
          </a:p>
        </p:txBody>
      </p:sp>
      <p:sp>
        <p:nvSpPr>
          <p:cNvPr id="50" name="Shape 42"/>
          <p:cNvSpPr/>
          <p:nvPr/>
        </p:nvSpPr>
        <p:spPr>
          <a:xfrm>
            <a:off x="6492240" y="3154680"/>
            <a:ext cx="320040" cy="3200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5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6248" y="3218688"/>
            <a:ext cx="192024" cy="192024"/>
          </a:xfrm>
          <a:prstGeom prst="rect">
            <a:avLst/>
          </a:prstGeom>
        </p:spPr>
      </p:pic>
      <p:sp>
        <p:nvSpPr>
          <p:cNvPr id="52" name="Shape 43"/>
          <p:cNvSpPr/>
          <p:nvPr/>
        </p:nvSpPr>
        <p:spPr>
          <a:xfrm>
            <a:off x="6652260" y="3474720"/>
            <a:ext cx="0" cy="731520"/>
          </a:xfrm>
          <a:prstGeom prst="line">
            <a:avLst/>
          </a:prstGeom>
          <a:noFill/>
          <a:ln w="25400">
            <a:solidFill>
              <a:srgbClr val="E2E8F0"/>
            </a:solidFill>
            <a:prstDash val="dash"/>
          </a:ln>
        </p:spPr>
      </p:sp>
      <p:sp>
        <p:nvSpPr>
          <p:cNvPr id="53" name="Text 44"/>
          <p:cNvSpPr/>
          <p:nvPr/>
        </p:nvSpPr>
        <p:spPr>
          <a:xfrm>
            <a:off x="6949440" y="3108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NGAY</a:t>
            </a:r>
            <a:endParaRPr lang="en-US" sz="900" dirty="0"/>
          </a:p>
        </p:txBody>
      </p:sp>
      <p:sp>
        <p:nvSpPr>
          <p:cNvPr id="54" name="Text 45"/>
          <p:cNvSpPr/>
          <p:nvPr/>
        </p:nvSpPr>
        <p:spPr>
          <a:xfrm>
            <a:off x="6949440" y="33192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cache + Local route DB</a:t>
            </a:r>
            <a:endParaRPr lang="en-US" sz="1400" dirty="0"/>
          </a:p>
        </p:txBody>
      </p:sp>
      <p:sp>
        <p:nvSpPr>
          <p:cNvPr id="55" name="Text 46"/>
          <p:cNvSpPr/>
          <p:nvPr/>
        </p:nvSpPr>
        <p:spPr>
          <a:xfrm>
            <a:off x="6949440" y="362102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Giảm LLM token &amp; Maps API call cho query lặp (VinUni→Ocean Park, Hồ Gươm→Văn Miếu). TTL ngắn, invalidate khi route đổi.</a:t>
            </a:r>
            <a:endParaRPr lang="en-US" sz="1050" dirty="0"/>
          </a:p>
        </p:txBody>
      </p:sp>
      <p:sp>
        <p:nvSpPr>
          <p:cNvPr id="56" name="Shape 47"/>
          <p:cNvSpPr/>
          <p:nvPr/>
        </p:nvSpPr>
        <p:spPr>
          <a:xfrm>
            <a:off x="6492240" y="4251960"/>
            <a:ext cx="320040" cy="3200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5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6248" y="4315968"/>
            <a:ext cx="192024" cy="192024"/>
          </a:xfrm>
          <a:prstGeom prst="rect">
            <a:avLst/>
          </a:prstGeom>
        </p:spPr>
      </p:pic>
      <p:sp>
        <p:nvSpPr>
          <p:cNvPr id="58" name="Shape 48"/>
          <p:cNvSpPr/>
          <p:nvPr/>
        </p:nvSpPr>
        <p:spPr>
          <a:xfrm>
            <a:off x="6652260" y="4572000"/>
            <a:ext cx="0" cy="731520"/>
          </a:xfrm>
          <a:prstGeom prst="line">
            <a:avLst/>
          </a:prstGeom>
          <a:noFill/>
          <a:ln w="25400">
            <a:solidFill>
              <a:srgbClr val="E2E8F0"/>
            </a:solidFill>
            <a:prstDash val="dash"/>
          </a:ln>
        </p:spPr>
      </p:sp>
      <p:sp>
        <p:nvSpPr>
          <p:cNvPr id="59" name="Text 49"/>
          <p:cNvSpPr/>
          <p:nvPr/>
        </p:nvSpPr>
        <p:spPr>
          <a:xfrm>
            <a:off x="6949440" y="4206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</a:t>
            </a:r>
            <a:endParaRPr lang="en-US" sz="900" dirty="0"/>
          </a:p>
        </p:txBody>
      </p:sp>
      <p:sp>
        <p:nvSpPr>
          <p:cNvPr id="60" name="Text 50"/>
          <p:cNvSpPr/>
          <p:nvPr/>
        </p:nvSpPr>
        <p:spPr>
          <a:xfrm>
            <a:off x="6949440" y="44165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routing + Prompt compression</a:t>
            </a:r>
            <a:endParaRPr lang="en-US" sz="1400" dirty="0"/>
          </a:p>
        </p:txBody>
      </p:sp>
      <p:sp>
        <p:nvSpPr>
          <p:cNvPr id="61" name="Text 51"/>
          <p:cNvSpPr/>
          <p:nvPr/>
        </p:nvSpPr>
        <p:spPr>
          <a:xfrm>
            <a:off x="6949440" y="471830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 1–2 tuần log: model nhỏ cho query đơn giản, model mạnh cho câu mơ hồ / đa ràng buộc. Nén prompt để giảm token.</a:t>
            </a:r>
            <a:endParaRPr lang="en-US" sz="1050" dirty="0"/>
          </a:p>
        </p:txBody>
      </p:sp>
      <p:sp>
        <p:nvSpPr>
          <p:cNvPr id="62" name="Shape 52"/>
          <p:cNvSpPr/>
          <p:nvPr/>
        </p:nvSpPr>
        <p:spPr>
          <a:xfrm>
            <a:off x="6492240" y="5349240"/>
            <a:ext cx="320040" cy="320040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pic>
        <p:nvPicPr>
          <p:cNvPr id="6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56248" y="5413248"/>
            <a:ext cx="192024" cy="192024"/>
          </a:xfrm>
          <a:prstGeom prst="rect">
            <a:avLst/>
          </a:prstGeom>
        </p:spPr>
      </p:pic>
      <p:sp>
        <p:nvSpPr>
          <p:cNvPr id="64" name="Text 53"/>
          <p:cNvSpPr/>
          <p:nvPr/>
        </p:nvSpPr>
        <p:spPr>
          <a:xfrm>
            <a:off x="6949440" y="5303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 VOLUME LỚN</a:t>
            </a:r>
            <a:endParaRPr lang="en-US" sz="900" dirty="0"/>
          </a:p>
        </p:txBody>
      </p:sp>
      <p:sp>
        <p:nvSpPr>
          <p:cNvPr id="65" name="Text 54"/>
          <p:cNvSpPr/>
          <p:nvPr/>
        </p:nvSpPr>
        <p:spPr>
          <a:xfrm>
            <a:off x="6949440" y="55138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 / smaller model cho parsing</a:t>
            </a:r>
            <a:endParaRPr lang="en-US" sz="1400" dirty="0"/>
          </a:p>
        </p:txBody>
      </p:sp>
      <p:sp>
        <p:nvSpPr>
          <p:cNvPr id="66" name="Text 55"/>
          <p:cNvSpPr/>
          <p:nvPr/>
        </p:nvSpPr>
        <p:spPr>
          <a:xfrm>
            <a:off x="6949440" y="581558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 traffic thật đủ lớn, đánh giá self-host model nhỏ cho bước parsing origin/destination, giữ managed API cho reasoning khó.</a:t>
            </a:r>
            <a:endParaRPr lang="en-US" sz="1050" dirty="0"/>
          </a:p>
        </p:txBody>
      </p:sp>
      <p:sp>
        <p:nvSpPr>
          <p:cNvPr id="67" name="Text 56"/>
          <p:cNvSpPr/>
          <p:nvPr/>
        </p:nvSpPr>
        <p:spPr>
          <a:xfrm>
            <a:off x="10332720" y="3657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Reliability &amp; Scaling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097280" cy="0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→ Solution · Fallback chain · Key metrics cần monitor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270891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920240"/>
            <a:ext cx="73152" cy="205740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194560"/>
            <a:ext cx="502920" cy="502920"/>
          </a:xfrm>
          <a:prstGeom prst="ellipse">
            <a:avLst/>
          </a:prstGeom>
          <a:solidFill>
            <a:srgbClr val="FFE4E6"/>
          </a:solidFill>
          <a:ln w="6350">
            <a:solidFill>
              <a:srgbClr val="F43F5E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28600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25880" y="2194560"/>
            <a:ext cx="17030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RỦI RO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325880" y="2377440"/>
            <a:ext cx="17487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Traffic spike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85800" y="2788920"/>
            <a:ext cx="22974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giờ cao điểm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85800" y="3108960"/>
            <a:ext cx="225171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5800" y="3154680"/>
            <a:ext cx="225171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PHÁP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85800" y="3337560"/>
            <a:ext cx="225171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Autoscaling + rate limit + cache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85800" y="3675888"/>
            <a:ext cx="22517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RPS, p95, cache hit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303270" y="1920240"/>
            <a:ext cx="270891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303270" y="1920240"/>
            <a:ext cx="73152" cy="2057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531870" y="2194560"/>
            <a:ext cx="502920" cy="502920"/>
          </a:xfrm>
          <a:prstGeom prst="ellipse">
            <a:avLst/>
          </a:prstGeom>
          <a:solidFill>
            <a:srgbClr val="FEF3C7"/>
          </a:solidFill>
          <a:ln w="6350">
            <a:solidFill>
              <a:srgbClr val="F59E0B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3310" y="2286000"/>
            <a:ext cx="320040" cy="32004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171950" y="2194560"/>
            <a:ext cx="17030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RỦI RO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4171950" y="2377440"/>
            <a:ext cx="17487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Provider timeout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3531870" y="2788920"/>
            <a:ext cx="22974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/ Google Maps chậm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531870" y="3108960"/>
            <a:ext cx="225171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531870" y="3154680"/>
            <a:ext cx="225171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PHÁP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3531870" y="3337560"/>
            <a:ext cx="225171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+ circuit breaker + fallback DB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3531870" y="3675888"/>
            <a:ext cx="22517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Provider latency, retry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6149340" y="1920240"/>
            <a:ext cx="270891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149340" y="1920240"/>
            <a:ext cx="73152" cy="2057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6377940" y="2194560"/>
            <a:ext cx="502920" cy="502920"/>
          </a:xfrm>
          <a:prstGeom prst="ellipse">
            <a:avLst/>
          </a:prstGeom>
          <a:solidFill>
            <a:srgbClr val="FEF3C7"/>
          </a:solidFill>
          <a:ln w="6350">
            <a:solidFill>
              <a:srgbClr val="F59E0B"/>
            </a:solidFill>
            <a:prstDash val="solid"/>
          </a:ln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9380" y="2286000"/>
            <a:ext cx="320040" cy="32004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7018020" y="2194560"/>
            <a:ext cx="17030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RỦI RO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7018020" y="2377440"/>
            <a:ext cx="17487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Response chậm</a:t>
            </a:r>
            <a:endParaRPr lang="en-US" sz="1400" dirty="0"/>
          </a:p>
        </p:txBody>
      </p:sp>
      <p:sp>
        <p:nvSpPr>
          <p:cNvPr id="34" name="Text 29"/>
          <p:cNvSpPr/>
          <p:nvPr/>
        </p:nvSpPr>
        <p:spPr>
          <a:xfrm>
            <a:off x="6377940" y="2788920"/>
            <a:ext cx="22974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đang đi, bỏ cuộc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6377940" y="3108960"/>
            <a:ext cx="225171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6377940" y="3154680"/>
            <a:ext cx="225171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PHÁP</a:t>
            </a:r>
            <a:endParaRPr lang="en-US" sz="900" dirty="0"/>
          </a:p>
        </p:txBody>
      </p:sp>
      <p:sp>
        <p:nvSpPr>
          <p:cNvPr id="37" name="Text 32"/>
          <p:cNvSpPr/>
          <p:nvPr/>
        </p:nvSpPr>
        <p:spPr>
          <a:xfrm>
            <a:off x="6377940" y="3337560"/>
            <a:ext cx="225171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response + route card sớm</a:t>
            </a:r>
            <a:endParaRPr lang="en-US" sz="1100" dirty="0"/>
          </a:p>
        </p:txBody>
      </p:sp>
      <p:sp>
        <p:nvSpPr>
          <p:cNvPr id="38" name="Text 33"/>
          <p:cNvSpPr/>
          <p:nvPr/>
        </p:nvSpPr>
        <p:spPr>
          <a:xfrm>
            <a:off x="6377940" y="3675888"/>
            <a:ext cx="22517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TTFB, abandonment</a:t>
            </a:r>
            <a:endParaRPr lang="en-US" sz="950" dirty="0"/>
          </a:p>
        </p:txBody>
      </p:sp>
      <p:sp>
        <p:nvSpPr>
          <p:cNvPr id="39" name="Shape 34"/>
          <p:cNvSpPr/>
          <p:nvPr/>
        </p:nvSpPr>
        <p:spPr>
          <a:xfrm>
            <a:off x="8995410" y="1920240"/>
            <a:ext cx="270891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0" name="Shape 35"/>
          <p:cNvSpPr/>
          <p:nvPr/>
        </p:nvSpPr>
        <p:spPr>
          <a:xfrm>
            <a:off x="8995410" y="1920240"/>
            <a:ext cx="73152" cy="205740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9224010" y="2194560"/>
            <a:ext cx="502920" cy="502920"/>
          </a:xfrm>
          <a:prstGeom prst="ellipse">
            <a:avLst/>
          </a:prstGeom>
          <a:solidFill>
            <a:srgbClr val="FFE4E6"/>
          </a:solidFill>
          <a:ln w="6350">
            <a:solidFill>
              <a:srgbClr val="F43F5E"/>
            </a:solidFill>
            <a:prstDash val="solid"/>
          </a:ln>
        </p:spPr>
      </p:sp>
      <p:pic>
        <p:nvPicPr>
          <p:cNvPr id="4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5450" y="2286000"/>
            <a:ext cx="320040" cy="320040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9864090" y="2194560"/>
            <a:ext cx="17030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RỦI RO</a:t>
            </a:r>
            <a:endParaRPr lang="en-US" sz="900" dirty="0"/>
          </a:p>
        </p:txBody>
      </p:sp>
      <p:sp>
        <p:nvSpPr>
          <p:cNvPr id="44" name="Text 38"/>
          <p:cNvSpPr/>
          <p:nvPr/>
        </p:nvSpPr>
        <p:spPr>
          <a:xfrm>
            <a:off x="9864090" y="2377440"/>
            <a:ext cx="17487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Route data cũ</a:t>
            </a:r>
            <a:endParaRPr lang="en-US" sz="1400" dirty="0"/>
          </a:p>
        </p:txBody>
      </p:sp>
      <p:sp>
        <p:nvSpPr>
          <p:cNvPr id="45" name="Text 39"/>
          <p:cNvSpPr/>
          <p:nvPr/>
        </p:nvSpPr>
        <p:spPr>
          <a:xfrm>
            <a:off x="9224010" y="2788920"/>
            <a:ext cx="22974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VinBus đổi tuyến, bot sai</a:t>
            </a:r>
            <a:endParaRPr lang="en-US" sz="1000" dirty="0"/>
          </a:p>
        </p:txBody>
      </p:sp>
      <p:sp>
        <p:nvSpPr>
          <p:cNvPr id="46" name="Shape 40"/>
          <p:cNvSpPr/>
          <p:nvPr/>
        </p:nvSpPr>
        <p:spPr>
          <a:xfrm>
            <a:off x="9224010" y="3108960"/>
            <a:ext cx="225171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1"/>
          <p:cNvSpPr/>
          <p:nvPr/>
        </p:nvSpPr>
        <p:spPr>
          <a:xfrm>
            <a:off x="9224010" y="3154680"/>
            <a:ext cx="225171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PHÁP</a:t>
            </a:r>
            <a:endParaRPr lang="en-US" sz="900" dirty="0"/>
          </a:p>
        </p:txBody>
      </p:sp>
      <p:sp>
        <p:nvSpPr>
          <p:cNvPr id="48" name="Text 42"/>
          <p:cNvSpPr/>
          <p:nvPr/>
        </p:nvSpPr>
        <p:spPr>
          <a:xfrm>
            <a:off x="9224010" y="3337560"/>
            <a:ext cx="225171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GTFS refresh + correction log</a:t>
            </a:r>
            <a:endParaRPr lang="en-US" sz="1100" dirty="0"/>
          </a:p>
        </p:txBody>
      </p:sp>
      <p:sp>
        <p:nvSpPr>
          <p:cNvPr id="49" name="Text 43"/>
          <p:cNvSpPr/>
          <p:nvPr/>
        </p:nvSpPr>
        <p:spPr>
          <a:xfrm>
            <a:off x="9224010" y="3675888"/>
            <a:ext cx="22517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Correction rate</a:t>
            </a:r>
            <a:endParaRPr lang="en-US" sz="950" dirty="0"/>
          </a:p>
        </p:txBody>
      </p:sp>
      <p:sp>
        <p:nvSpPr>
          <p:cNvPr id="50" name="Shape 44"/>
          <p:cNvSpPr/>
          <p:nvPr/>
        </p:nvSpPr>
        <p:spPr>
          <a:xfrm>
            <a:off x="457200" y="4297680"/>
            <a:ext cx="11247120" cy="201168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51" name="Text 45"/>
          <p:cNvSpPr/>
          <p:nvPr/>
        </p:nvSpPr>
        <p:spPr>
          <a:xfrm>
            <a:off x="731520" y="4526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CHAIN</a:t>
            </a:r>
            <a:endParaRPr lang="en-US" sz="1000" dirty="0"/>
          </a:p>
        </p:txBody>
      </p:sp>
      <p:sp>
        <p:nvSpPr>
          <p:cNvPr id="52" name="Text 46"/>
          <p:cNvSpPr/>
          <p:nvPr/>
        </p:nvSpPr>
        <p:spPr>
          <a:xfrm>
            <a:off x="731520" y="4800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Thứ tự xử lý khi lỗi / query khó</a:t>
            </a:r>
            <a:endParaRPr lang="en-US" sz="1700" dirty="0"/>
          </a:p>
        </p:txBody>
      </p:sp>
      <p:sp>
        <p:nvSpPr>
          <p:cNvPr id="53" name="Shape 47"/>
          <p:cNvSpPr/>
          <p:nvPr/>
        </p:nvSpPr>
        <p:spPr>
          <a:xfrm>
            <a:off x="731520" y="5349240"/>
            <a:ext cx="2057400" cy="822960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54" name="Shape 48"/>
          <p:cNvSpPr/>
          <p:nvPr/>
        </p:nvSpPr>
        <p:spPr>
          <a:xfrm>
            <a:off x="868680" y="5532120"/>
            <a:ext cx="457200" cy="45720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5" name="Text 49"/>
          <p:cNvSpPr/>
          <p:nvPr/>
        </p:nvSpPr>
        <p:spPr>
          <a:xfrm>
            <a:off x="868680" y="5532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56" name="Text 50"/>
          <p:cNvSpPr/>
          <p:nvPr/>
        </p:nvSpPr>
        <p:spPr>
          <a:xfrm>
            <a:off x="1371600" y="54864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VinBus DB</a:t>
            </a:r>
            <a:endParaRPr lang="en-US" sz="1100" dirty="0"/>
          </a:p>
        </p:txBody>
      </p:sp>
      <p:sp>
        <p:nvSpPr>
          <p:cNvPr id="57" name="Text 51"/>
          <p:cNvSpPr/>
          <p:nvPr/>
        </p:nvSpPr>
        <p:spPr>
          <a:xfrm>
            <a:off x="1371600" y="57607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origin/destination</a:t>
            </a:r>
            <a:endParaRPr lang="en-US" sz="900" dirty="0"/>
          </a:p>
        </p:txBody>
      </p:sp>
      <p:sp>
        <p:nvSpPr>
          <p:cNvPr id="58" name="Shape 52"/>
          <p:cNvSpPr/>
          <p:nvPr/>
        </p:nvSpPr>
        <p:spPr>
          <a:xfrm>
            <a:off x="2793492" y="5760720"/>
            <a:ext cx="128016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  <a:tailEnd type="triangle"/>
          </a:ln>
        </p:spPr>
      </p:sp>
      <p:sp>
        <p:nvSpPr>
          <p:cNvPr id="59" name="Shape 53"/>
          <p:cNvSpPr/>
          <p:nvPr/>
        </p:nvSpPr>
        <p:spPr>
          <a:xfrm>
            <a:off x="2926080" y="5349240"/>
            <a:ext cx="2057400" cy="822960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60" name="Shape 54"/>
          <p:cNvSpPr/>
          <p:nvPr/>
        </p:nvSpPr>
        <p:spPr>
          <a:xfrm>
            <a:off x="3063240" y="5532120"/>
            <a:ext cx="457200" cy="45720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1" name="Text 55"/>
          <p:cNvSpPr/>
          <p:nvPr/>
        </p:nvSpPr>
        <p:spPr>
          <a:xfrm>
            <a:off x="3063240" y="5532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62" name="Text 56"/>
          <p:cNvSpPr/>
          <p:nvPr/>
        </p:nvSpPr>
        <p:spPr>
          <a:xfrm>
            <a:off x="3566160" y="54864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route</a:t>
            </a:r>
            <a:endParaRPr lang="en-US" sz="1100" dirty="0"/>
          </a:p>
        </p:txBody>
      </p:sp>
      <p:sp>
        <p:nvSpPr>
          <p:cNvPr id="63" name="Text 57"/>
          <p:cNvSpPr/>
          <p:nvPr/>
        </p:nvSpPr>
        <p:spPr>
          <a:xfrm>
            <a:off x="3566160" y="57607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 + cảnh báo kiểm tra</a:t>
            </a:r>
            <a:endParaRPr lang="en-US" sz="900" dirty="0"/>
          </a:p>
        </p:txBody>
      </p:sp>
      <p:sp>
        <p:nvSpPr>
          <p:cNvPr id="64" name="Shape 58"/>
          <p:cNvSpPr/>
          <p:nvPr/>
        </p:nvSpPr>
        <p:spPr>
          <a:xfrm>
            <a:off x="4988052" y="5760720"/>
            <a:ext cx="128016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  <a:tailEnd type="triangle"/>
          </a:ln>
        </p:spPr>
      </p:sp>
      <p:sp>
        <p:nvSpPr>
          <p:cNvPr id="65" name="Shape 59"/>
          <p:cNvSpPr/>
          <p:nvPr/>
        </p:nvSpPr>
        <p:spPr>
          <a:xfrm>
            <a:off x="5120640" y="5349240"/>
            <a:ext cx="2057400" cy="822960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66" name="Shape 60"/>
          <p:cNvSpPr/>
          <p:nvPr/>
        </p:nvSpPr>
        <p:spPr>
          <a:xfrm>
            <a:off x="5257800" y="5532120"/>
            <a:ext cx="457200" cy="45720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7" name="Text 61"/>
          <p:cNvSpPr/>
          <p:nvPr/>
        </p:nvSpPr>
        <p:spPr>
          <a:xfrm>
            <a:off x="5257800" y="5532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68" name="Text 62"/>
          <p:cNvSpPr/>
          <p:nvPr/>
        </p:nvSpPr>
        <p:spPr>
          <a:xfrm>
            <a:off x="5760720" y="54864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hỏi lại</a:t>
            </a:r>
            <a:endParaRPr lang="en-US" sz="1100" dirty="0"/>
          </a:p>
        </p:txBody>
      </p:sp>
      <p:sp>
        <p:nvSpPr>
          <p:cNvPr id="69" name="Text 63"/>
          <p:cNvSpPr/>
          <p:nvPr/>
        </p:nvSpPr>
        <p:spPr>
          <a:xfrm>
            <a:off x="5760720" y="57607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mơ hồ</a:t>
            </a:r>
            <a:endParaRPr lang="en-US" sz="900" dirty="0"/>
          </a:p>
        </p:txBody>
      </p:sp>
      <p:sp>
        <p:nvSpPr>
          <p:cNvPr id="70" name="Shape 64"/>
          <p:cNvSpPr/>
          <p:nvPr/>
        </p:nvSpPr>
        <p:spPr>
          <a:xfrm>
            <a:off x="7182612" y="5760720"/>
            <a:ext cx="128016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  <a:tailEnd type="triangle"/>
          </a:ln>
        </p:spPr>
      </p:sp>
      <p:sp>
        <p:nvSpPr>
          <p:cNvPr id="71" name="Shape 65"/>
          <p:cNvSpPr/>
          <p:nvPr/>
        </p:nvSpPr>
        <p:spPr>
          <a:xfrm>
            <a:off x="7315200" y="5349240"/>
            <a:ext cx="2057400" cy="822960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72" name="Shape 66"/>
          <p:cNvSpPr/>
          <p:nvPr/>
        </p:nvSpPr>
        <p:spPr>
          <a:xfrm>
            <a:off x="7452360" y="5532120"/>
            <a:ext cx="457200" cy="45720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3" name="Text 67"/>
          <p:cNvSpPr/>
          <p:nvPr/>
        </p:nvSpPr>
        <p:spPr>
          <a:xfrm>
            <a:off x="7452360" y="5532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74" name="Text 68"/>
          <p:cNvSpPr/>
          <p:nvPr/>
        </p:nvSpPr>
        <p:spPr>
          <a:xfrm>
            <a:off x="7955280" y="54864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/ CSKH</a:t>
            </a:r>
            <a:endParaRPr lang="en-US" sz="1100" dirty="0"/>
          </a:p>
        </p:txBody>
      </p:sp>
      <p:sp>
        <p:nvSpPr>
          <p:cNvPr id="75" name="Text 69"/>
          <p:cNvSpPr/>
          <p:nvPr/>
        </p:nvSpPr>
        <p:spPr>
          <a:xfrm>
            <a:off x="7955280" y="57607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báo sai tuyến</a:t>
            </a:r>
            <a:endParaRPr lang="en-US" sz="900" dirty="0"/>
          </a:p>
        </p:txBody>
      </p:sp>
      <p:sp>
        <p:nvSpPr>
          <p:cNvPr id="76" name="Shape 70"/>
          <p:cNvSpPr/>
          <p:nvPr/>
        </p:nvSpPr>
        <p:spPr>
          <a:xfrm>
            <a:off x="9377172" y="5760720"/>
            <a:ext cx="128016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  <a:tailEnd type="triangle"/>
          </a:ln>
        </p:spPr>
      </p:sp>
      <p:sp>
        <p:nvSpPr>
          <p:cNvPr id="77" name="Shape 71"/>
          <p:cNvSpPr/>
          <p:nvPr/>
        </p:nvSpPr>
        <p:spPr>
          <a:xfrm>
            <a:off x="9509760" y="5349240"/>
            <a:ext cx="2057400" cy="822960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78" name="Shape 72"/>
          <p:cNvSpPr/>
          <p:nvPr/>
        </p:nvSpPr>
        <p:spPr>
          <a:xfrm>
            <a:off x="9646920" y="5532120"/>
            <a:ext cx="457200" cy="45720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9" name="Text 73"/>
          <p:cNvSpPr/>
          <p:nvPr/>
        </p:nvSpPr>
        <p:spPr>
          <a:xfrm>
            <a:off x="9646920" y="5532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80" name="Text 74"/>
          <p:cNvSpPr/>
          <p:nvPr/>
        </p:nvSpPr>
        <p:spPr>
          <a:xfrm>
            <a:off x="10149840" y="54864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/ bản đồ</a:t>
            </a:r>
            <a:endParaRPr lang="en-US" sz="1100" dirty="0"/>
          </a:p>
        </p:txBody>
      </p:sp>
      <p:sp>
        <p:nvSpPr>
          <p:cNvPr id="81" name="Text 75"/>
          <p:cNvSpPr/>
          <p:nvPr/>
        </p:nvSpPr>
        <p:spPr>
          <a:xfrm>
            <a:off x="10149840" y="57607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 provider lỗi</a:t>
            </a:r>
            <a:endParaRPr lang="en-US" sz="900" dirty="0"/>
          </a:p>
        </p:txBody>
      </p:sp>
      <p:sp>
        <p:nvSpPr>
          <p:cNvPr id="82" name="Text 76"/>
          <p:cNvSpPr/>
          <p:nvPr/>
        </p:nvSpPr>
        <p:spPr>
          <a:xfrm>
            <a:off x="10332720" y="3657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  ·  HƯỚNG ĐI PHASE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Track đề xuất &amp; Next Steps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371600" cy="0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965960"/>
            <a:ext cx="4846320" cy="41148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965960"/>
            <a:ext cx="91440" cy="41148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1945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TRACK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46888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Engineering + Infra / Data / Ops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777240" y="3749040"/>
            <a:ext cx="20574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3867912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37490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Engineering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77240" y="4343400"/>
            <a:ext cx="2057400" cy="5029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4462272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80160" y="43434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/ Data / Ops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777240" y="498348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 DO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777240" y="521208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 trị thật của FlowBot nằm ở route correctness, tool reliability, cache, monitoring và GTFS pipeline — không chỉ prompt hay UI đẹp.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577840" y="196596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5577840" y="224028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việc cần làm ngay sau hôm nay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5577840" y="2834640"/>
            <a:ext cx="2971800" cy="868680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760720" y="3017520"/>
            <a:ext cx="502920" cy="502920"/>
          </a:xfrm>
          <a:prstGeom prst="ellipse">
            <a:avLst/>
          </a:prstGeom>
          <a:solidFill>
            <a:srgbClr val="0A2540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1304" y="3118104"/>
            <a:ext cx="301752" cy="30175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400800" y="2971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Đồng bộ response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400800" y="32461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↔ frontend route cards khớp schema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8732520" y="2834640"/>
            <a:ext cx="2971800" cy="868680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8915400" y="3017520"/>
            <a:ext cx="502920" cy="502920"/>
          </a:xfrm>
          <a:prstGeom prst="ellipse">
            <a:avLst/>
          </a:prstGeom>
          <a:solidFill>
            <a:srgbClr val="0A2540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5984" y="3118104"/>
            <a:ext cx="301752" cy="30175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555480" y="2971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logging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9555480" y="32461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Latency, error, tool I/O, correction feedback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5577840" y="3840480"/>
            <a:ext cx="2971800" cy="868680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5760720" y="4023360"/>
            <a:ext cx="502920" cy="502920"/>
          </a:xfrm>
          <a:prstGeom prst="ellipse">
            <a:avLst/>
          </a:prstGeom>
          <a:solidFill>
            <a:srgbClr val="0A2540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1304" y="4123944"/>
            <a:ext cx="301752" cy="30175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6400800" y="3977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cache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6400800" y="42519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phổ biến + local VinBus route lookup trước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8732520" y="3840480"/>
            <a:ext cx="2971800" cy="868680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8915400" y="4023360"/>
            <a:ext cx="502920" cy="502920"/>
          </a:xfrm>
          <a:prstGeom prst="ellipse">
            <a:avLst/>
          </a:prstGeom>
          <a:solidFill>
            <a:srgbClr val="0A2540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5984" y="4123944"/>
            <a:ext cx="301752" cy="30175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9555480" y="3977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eval test set</a:t>
            </a:r>
            <a:endParaRPr lang="en-US" sz="1300" dirty="0"/>
          </a:p>
        </p:txBody>
      </p:sp>
      <p:sp>
        <p:nvSpPr>
          <p:cNvPr id="38" name="Text 30"/>
          <p:cNvSpPr/>
          <p:nvPr/>
        </p:nvSpPr>
        <p:spPr>
          <a:xfrm>
            <a:off x="9555480" y="42519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query benchmark precision / correction rate</a:t>
            </a:r>
            <a:endParaRPr lang="en-US" sz="1000" dirty="0"/>
          </a:p>
        </p:txBody>
      </p:sp>
      <p:sp>
        <p:nvSpPr>
          <p:cNvPr id="39" name="Shape 31"/>
          <p:cNvSpPr/>
          <p:nvPr/>
        </p:nvSpPr>
        <p:spPr>
          <a:xfrm>
            <a:off x="5577840" y="4846320"/>
            <a:ext cx="2971800" cy="868680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40" name="Shape 32"/>
          <p:cNvSpPr/>
          <p:nvPr/>
        </p:nvSpPr>
        <p:spPr>
          <a:xfrm>
            <a:off x="5760720" y="5029200"/>
            <a:ext cx="502920" cy="502920"/>
          </a:xfrm>
          <a:prstGeom prst="ellipse">
            <a:avLst/>
          </a:prstGeom>
          <a:solidFill>
            <a:srgbClr val="0A2540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61304" y="5129784"/>
            <a:ext cx="301752" cy="301752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6400800" y="4983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deploy</a:t>
            </a:r>
            <a:endParaRPr lang="en-US" sz="1300" dirty="0"/>
          </a:p>
        </p:txBody>
      </p:sp>
      <p:sp>
        <p:nvSpPr>
          <p:cNvPr id="43" name="Text 34"/>
          <p:cNvSpPr/>
          <p:nvPr/>
        </p:nvSpPr>
        <p:spPr>
          <a:xfrm>
            <a:off x="6400800" y="5257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CI/CD, secrets, autoscaling, rate limit gateway</a:t>
            </a:r>
            <a:endParaRPr lang="en-US" sz="1000" dirty="0"/>
          </a:p>
        </p:txBody>
      </p:sp>
      <p:sp>
        <p:nvSpPr>
          <p:cNvPr id="44" name="Shape 35"/>
          <p:cNvSpPr/>
          <p:nvPr/>
        </p:nvSpPr>
        <p:spPr>
          <a:xfrm>
            <a:off x="8732520" y="4846320"/>
            <a:ext cx="2971800" cy="868680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45" name="Shape 36"/>
          <p:cNvSpPr/>
          <p:nvPr/>
        </p:nvSpPr>
        <p:spPr>
          <a:xfrm>
            <a:off x="8915400" y="5029200"/>
            <a:ext cx="502920" cy="502920"/>
          </a:xfrm>
          <a:prstGeom prst="ellipse">
            <a:avLst/>
          </a:prstGeom>
          <a:solidFill>
            <a:srgbClr val="0A2540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4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15984" y="5129784"/>
            <a:ext cx="301752" cy="301752"/>
          </a:xfrm>
          <a:prstGeom prst="rect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9555480" y="4983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GTFS pipeline</a:t>
            </a:r>
            <a:endParaRPr lang="en-US" sz="1300" dirty="0"/>
          </a:p>
        </p:txBody>
      </p:sp>
      <p:sp>
        <p:nvSpPr>
          <p:cNvPr id="48" name="Text 38"/>
          <p:cNvSpPr/>
          <p:nvPr/>
        </p:nvSpPr>
        <p:spPr>
          <a:xfrm>
            <a:off x="9555480" y="5257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schedule, versioning, route validation</a:t>
            </a:r>
            <a:endParaRPr lang="en-US" sz="1000" dirty="0"/>
          </a:p>
        </p:txBody>
      </p:sp>
      <p:sp>
        <p:nvSpPr>
          <p:cNvPr id="49" name="Shape 39"/>
          <p:cNvSpPr/>
          <p:nvPr/>
        </p:nvSpPr>
        <p:spPr>
          <a:xfrm>
            <a:off x="457200" y="6263640"/>
            <a:ext cx="11247120" cy="0"/>
          </a:xfrm>
          <a:prstGeom prst="line">
            <a:avLst/>
          </a:prstGeom>
          <a:noFill/>
          <a:ln w="9525">
            <a:solidFill>
              <a:srgbClr val="0D9488"/>
            </a:solidFill>
            <a:prstDash val="solid"/>
          </a:ln>
        </p:spPr>
      </p:sp>
      <p:sp>
        <p:nvSpPr>
          <p:cNvPr id="50" name="Text 40"/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FlowBot  </a:t>
            </a:r>
            <a:pPr indent="0" marL="0">
              <a:buNone/>
            </a:pPr>
            <a:r>
              <a:rPr lang="en-US" sz="11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Prototype → AI transit assistant enterprise-ready</a:t>
            </a:r>
            <a:endParaRPr lang="en-US" sz="1200" dirty="0"/>
          </a:p>
        </p:txBody>
      </p:sp>
      <p:sp>
        <p:nvSpPr>
          <p:cNvPr id="51" name="Text 41"/>
          <p:cNvSpPr/>
          <p:nvPr/>
        </p:nvSpPr>
        <p:spPr>
          <a:xfrm>
            <a:off x="7772400" y="64008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Cảm ơn đã lắng nghe  ·  06 / 06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FlowBot - VinBus Route Chatbot</dc:title>
  <dc:subject>PptxGenJS Presentation</dc:subject>
  <dc:creator>FlowBot Team</dc:creator>
  <cp:lastModifiedBy>FlowBot Team</cp:lastModifiedBy>
  <cp:revision>1</cp:revision>
  <dcterms:created xsi:type="dcterms:W3CDTF">2026-04-22T08:16:20Z</dcterms:created>
  <dcterms:modified xsi:type="dcterms:W3CDTF">2026-04-22T08:16:20Z</dcterms:modified>
</cp:coreProperties>
</file>